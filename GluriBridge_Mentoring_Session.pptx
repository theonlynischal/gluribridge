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GluriBridge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E2D9C9"/>
                </a:solidFill>
                <a:latin typeface="Calibri"/>
              </a:rPr>
              <a:t>Evidence-backed partner discovery for Gluri's Indonesia forest-carbon dMRV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154680"/>
            <a:ext cx="118872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A7658"/>
                </a:solidFill>
                <a:latin typeface="Calibri"/>
              </a:rPr>
              <a:t>Mentoring session · I'm in Busan Impact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Gluri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350">
                <a:solidFill>
                  <a:srgbClr val="2F6D4F"/>
                </a:solidFill>
                <a:latin typeface="Calibri"/>
              </a:rPr>
              <a:t>●  </a:t>
            </a:r>
            <a:r>
              <a:rPr sz="1650">
                <a:solidFill>
                  <a:srgbClr val="4F4230"/>
                </a:solidFill>
                <a:latin typeface="Calibri"/>
              </a:rPr>
              <a:t>Busan-based startup — 2-person team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350">
                <a:solidFill>
                  <a:srgbClr val="2F6D4F"/>
                </a:solidFill>
                <a:latin typeface="Calibri"/>
              </a:rPr>
              <a:t>●  </a:t>
            </a:r>
            <a:r>
              <a:rPr sz="1650">
                <a:solidFill>
                  <a:srgbClr val="4F4230"/>
                </a:solidFill>
                <a:latin typeface="Calibri"/>
              </a:rPr>
              <a:t>Product: treXchange — satellite + AI forest-carbon dMRV (digital measurement, reporting, verification)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350">
                <a:solidFill>
                  <a:srgbClr val="2F6D4F"/>
                </a:solidFill>
                <a:latin typeface="Calibri"/>
              </a:rPr>
              <a:t>●  </a:t>
            </a:r>
            <a:r>
              <a:rPr sz="1650">
                <a:solidFill>
                  <a:srgbClr val="4F4230"/>
                </a:solidFill>
                <a:latin typeface="Calibri"/>
              </a:rPr>
              <a:t>Preparing their first Indonesia proof-of-concept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350">
                <a:solidFill>
                  <a:srgbClr val="2F6D4F"/>
                </a:solidFill>
                <a:latin typeface="Calibri"/>
              </a:rPr>
              <a:t>●  </a:t>
            </a:r>
            <a:r>
              <a:rPr sz="1650">
                <a:solidFill>
                  <a:srgbClr val="4F4230"/>
                </a:solidFill>
                <a:latin typeface="Calibri"/>
              </a:rPr>
              <a:t>Competing in Theme 2, Forestry &amp; Ocean ESG — “I'm in Busan” Impact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20240"/>
            <a:ext cx="4297680" cy="3017520"/>
          </a:xfrm>
          <a:prstGeom prst="roundRect">
            <a:avLst>
              <a:gd name="adj" fmla="val 8000"/>
            </a:avLst>
          </a:prstGeom>
          <a:solidFill>
            <a:srgbClr val="173829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treXchange</a:t>
            </a:r>
          </a:p>
          <a:p>
            <a:pPr algn="ctr"/>
            <a:endParaRPr sz="1500" b="1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Satellite + AI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Forest-carbon dMRV</a:t>
            </a:r>
          </a:p>
          <a:p>
            <a:pPr algn="ctr"/>
            <a:endParaRPr sz="1500" b="1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Measurement · Reporting ·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In their own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051560"/>
          </a:xfrm>
          <a:prstGeom prst="roundRect">
            <a:avLst/>
          </a:prstGeom>
          <a:solidFill>
            <a:srgbClr val="F0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F4230"/>
                </a:solidFill>
                <a:latin typeface="Calibri"/>
              </a:rPr>
              <a:t>“We measure and verify forest carbon with satellites and AI, but abroad we can't</a:t>
            </a:r>
          </a:p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F4230"/>
                </a:solidFill>
                <a:latin typeface="Calibri"/>
              </a:rPr>
              <a:t>check the rules, pilot conditions, or find local partners.” — organizer's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05A2C"/>
                </a:solidFill>
                <a:latin typeface="Calibri"/>
              </a:rPr>
              <a:t>GLURI'S OWN ANSWERS, WHEN ASKED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64008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No existing candidate list, no trusted starting source, no fixed target region/org-type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The hardest part isn't finding candidates — it's judging whether a real point of collaboration exists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A useful shortlist needs: name, location, reason, contact, permits, next questions — plus fact vs. hypothesis labeling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Indonesia is priority, not exclusive — India/Nepal admissible if genuinely stronger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246120"/>
            <a:ext cx="4389120" cy="2468880"/>
          </a:xfrm>
          <a:prstGeom prst="roundRect">
            <a:avLst/>
          </a:prstGeom>
          <a:solidFill>
            <a:srgbClr val="1C4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3474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2D9C9"/>
                </a:solidFill>
                <a:latin typeface="Calibri"/>
              </a:rPr>
              <a:t>ORGANIZER'S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84048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“부지 권한·수요’처럼 겉으로 안 보이는</a:t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조건 판별이 핵심 난이도”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84632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0EBE2"/>
                </a:solidFill>
                <a:latin typeface="Calibri"/>
              </a:rPr>
              <a:t>Judging hidden conditions — like land rights and demand — is the core difficulty.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231D16"/>
                </a:solidFill>
                <a:latin typeface="Georgia"/>
              </a:rPr>
              <a:t>How the pipeline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8A7658"/>
                </a:solidFill>
                <a:latin typeface="Calibri"/>
              </a:rPr>
              <a:t>Scrapers auto-refresh on a background scheduler — SRUK/Verra daily, SRN-PPI monthly, BRWA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SRUK + SRN-PPI</a:t>
            </a:r>
          </a:p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carbon registries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645920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Verra</a:t>
            </a:r>
          </a:p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intl. carbon standard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45920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BRWA</a:t>
            </a:r>
          </a:p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land-rights registry</a:t>
            </a:r>
          </a:p>
          <a:p>
            <a:pPr algn="ctr"/>
            <a:r>
              <a:rPr sz="1100" b="1">
                <a:solidFill>
                  <a:srgbClr val="231D16"/>
                </a:solidFill>
                <a:latin typeface="Calibri"/>
              </a:rPr>
              <a:t>(2,283 territories)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1645920"/>
            <a:ext cx="2697480" cy="566928"/>
          </a:xfrm>
          <a:prstGeom prst="roundRect">
            <a:avLst>
              <a:gd name="adj" fmla="val 8000"/>
            </a:avLst>
          </a:prstGeom>
          <a:solidFill>
            <a:srgbClr val="1C4140"/>
          </a:solidFill>
          <a:ln w="12700">
            <a:solidFill>
              <a:srgbClr val="1C4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Tavily web search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(discovery + corroboration)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14500" y="2212848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04004" y="2212848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3508" y="2212848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83012" y="2212848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359152"/>
            <a:ext cx="11457432" cy="438912"/>
          </a:xfrm>
          <a:prstGeom prst="roundRect">
            <a:avLst>
              <a:gd name="adj" fmla="val 8000"/>
            </a:avLst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231D16"/>
                </a:solidFill>
                <a:latin typeface="Calibri"/>
              </a:rPr>
              <a:t>Per-source normalizer  →  Unified Candidate Record (same schema for every source)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6" y="2798064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" y="2944368"/>
            <a:ext cx="11457432" cy="420624"/>
          </a:xfrm>
          <a:prstGeom prst="roundRect">
            <a:avLst>
              <a:gd name="adj" fmla="val 8000"/>
            </a:avLst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231D16"/>
                </a:solidFill>
                <a:latin typeface="Calibri"/>
              </a:rPr>
              <a:t>Identity resolution — fuzzy org/name/desc/geo match + conflict detection (not “first match wins”)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4476" y="3364992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3511296"/>
            <a:ext cx="11457432" cy="420624"/>
          </a:xfrm>
          <a:prstGeom prst="roundRect">
            <a:avLst>
              <a:gd name="adj" fmla="val 8000"/>
            </a:avLst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231D16"/>
                </a:solidFill>
                <a:latin typeface="Calibri"/>
              </a:rPr>
              <a:t>Attach BRWA land-rights evidence — spatial fact about a PLACE, never a separate candidate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993892" y="3931920"/>
            <a:ext cx="100584" cy="164592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5760" y="4096512"/>
            <a:ext cx="3639312" cy="566928"/>
          </a:xfrm>
          <a:prstGeom prst="roundRect">
            <a:avLst>
              <a:gd name="adj" fmla="val 8000"/>
            </a:avLst>
          </a:prstGeom>
          <a:solidFill>
            <a:srgbClr val="2F6D4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Score: need_score +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credibility_score (never blended)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4096512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2F6D4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Compliance check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Permenhut 6/2026 — 25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2712" y="4096512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F6D4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Dossier + bilingual (EN/ID)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outreach generation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05072" y="4379976"/>
            <a:ext cx="182880" cy="0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99832" y="4379976"/>
            <a:ext cx="182880" cy="0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93892" y="4663440"/>
            <a:ext cx="100584" cy="182880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5760" y="4846320"/>
            <a:ext cx="11457432" cy="420624"/>
          </a:xfrm>
          <a:prstGeom prst="roundRect">
            <a:avLst>
              <a:gd name="adj" fmla="val 8000"/>
            </a:avLst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231D16"/>
                </a:solidFill>
                <a:latin typeface="Calibri"/>
              </a:rPr>
              <a:t>FastAPI + SQLite database — real candidate rows, indexed, persisted status/history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4476" y="5266944"/>
            <a:ext cx="0" cy="146304"/>
          </a:xfrm>
          <a:prstGeom prst="line">
            <a:avLst/>
          </a:prstGeom>
          <a:ln w="22225">
            <a:solidFill>
              <a:srgbClr val="8A76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5413248"/>
            <a:ext cx="11457432" cy="420624"/>
          </a:xfrm>
          <a:prstGeom prst="roundRect">
            <a:avLst>
              <a:gd name="adj" fmla="val 8000"/>
            </a:avLst>
          </a:prstGeom>
          <a:solidFill>
            <a:srgbClr val="173829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React + Vite frontend — Dashboard · Candidates · Territory Discovery ·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C4140"/>
                </a:solidFill>
                <a:latin typeface="Calibri"/>
              </a:rPr>
              <a:t>Tavily is a parallel discovery input feeding the SAME candidate pool as the registries — not a separate verification-only step.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Where the real data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92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738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>
                    <a:solidFill>
                      <a:srgbClr val="1738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 raw records</a:t>
                      </a:r>
                    </a:p>
                  </a:txBody>
                  <a:tcPr>
                    <a:solidFill>
                      <a:srgbClr val="1738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the 144 final candidates</a:t>
                      </a:r>
                    </a:p>
                  </a:txBody>
                  <a:tcPr>
                    <a:solidFill>
                      <a:srgbClr val="173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F4230"/>
                          </a:solidFill>
                          <a:latin typeface="Calibri"/>
                        </a:rPr>
                        <a:t>SRUK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Carbon-unit registry (launched 9 Jul 2026)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92 project records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87 candidates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F4230"/>
                          </a:solidFill>
                          <a:latin typeface="Calibri"/>
                        </a:rPr>
                        <a:t>SRN-PPI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Broader climate-action registry (since ~2017)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191 project records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1 candidate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F4230"/>
                          </a:solidFill>
                          <a:latin typeface="Calibri"/>
                        </a:rPr>
                        <a:t>Verra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International carbon-credit standard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1,976 AFOLU-filtered (of 5,281 listed)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47 candidates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F4230"/>
                          </a:solidFill>
                          <a:latin typeface="Calibri"/>
                        </a:rPr>
                        <a:t>BRWA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Customary/indigenous land-rights registry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2,283 territories (1,756 w/ geometry, 77%)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11 confirmed overlaps</a:t>
                      </a:r>
                    </a:p>
                  </a:txBody>
                  <a:tcPr marT="76200" marB="76200">
                    <a:solidFill>
                      <a:srgbClr val="F8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F4230"/>
                          </a:solidFill>
                          <a:latin typeface="Calibri"/>
                        </a:rPr>
                        <a:t>Tavily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Web search — discovery + corroboration, not a registry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146 real queries run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F4230"/>
                          </a:solidFill>
                          <a:latin typeface="Calibri"/>
                        </a:rPr>
                        <a:t>16 new + 114 corroborated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7658"/>
                </a:solidFill>
                <a:latin typeface="Calibri"/>
              </a:rPr>
              <a:t>All record counts pulled live from the running database/API at build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HOW SCORING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Need vs. credibility — never blended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F6D4F"/>
                </a:solidFill>
                <a:latin typeface="Calibri"/>
              </a:rPr>
              <a:t>●  </a:t>
            </a:r>
            <a:r>
              <a:rPr sz="1350">
                <a:solidFill>
                  <a:srgbClr val="4F4230"/>
                </a:solidFill>
                <a:latin typeface="Calibri"/>
              </a:rPr>
              <a:t>need_score = how much of a real documentation/verification GAP exists (opportunity for Gluri)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F6D4F"/>
                </a:solidFill>
                <a:latin typeface="Calibri"/>
              </a:rPr>
              <a:t>●  </a:t>
            </a:r>
            <a:r>
              <a:rPr sz="1350">
                <a:solidFill>
                  <a:srgbClr val="4F4230"/>
                </a:solidFill>
                <a:latin typeface="Calibri"/>
              </a:rPr>
              <a:t>credibility_score = how mature/confirmed the project already is — NOT a quality judgment on need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F6D4F"/>
                </a:solidFill>
                <a:latin typeface="Calibri"/>
              </a:rPr>
              <a:t>●  </a:t>
            </a:r>
            <a:r>
              <a:rPr sz="1350">
                <a:solidFill>
                  <a:srgbClr val="4F4230"/>
                </a:solidFill>
                <a:latin typeface="Calibri"/>
              </a:rPr>
              <a:t>A high-credibility, low-need project is a correctly-scored mature partner, not a bad candidate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492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440" y="2870200"/>
            <a:ext cx="499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F6D4F"/>
                </a:solidFill>
                <a:latin typeface="Calibri"/>
              </a:rPr>
              <a:t>CONFIRMED — mature, no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440" y="3175000"/>
            <a:ext cx="4993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31D16"/>
                </a:solidFill>
                <a:latin typeface="Georgia"/>
              </a:rPr>
              <a:t>Katingan Peatland Restoration and Conservation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440" y="39878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A05A2C"/>
                </a:solidFill>
                <a:latin typeface="Consolas"/>
              </a:rPr>
              <a:t>11.1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440" y="47752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7658"/>
                </a:solidFill>
                <a:latin typeface="Calibri"/>
              </a:rPr>
              <a:t>NEED SCORE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4060" y="39878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F6D4F"/>
                </a:solidFill>
                <a:latin typeface="Consolas"/>
              </a:rPr>
              <a:t>88.2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4060" y="47752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7658"/>
                </a:solidFill>
                <a:latin typeface="Calibri"/>
              </a:rPr>
              <a:t>CREDIBILITY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440" y="5219700"/>
            <a:ext cx="4993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8A7658"/>
                </a:solidFill>
                <a:latin typeface="Calibri"/>
              </a:rPr>
              <a:t>Real label: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53492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0000" y="2870200"/>
            <a:ext cx="499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05A2C"/>
                </a:solidFill>
                <a:latin typeface="Calibri"/>
              </a:rPr>
              <a:t>OPPORTUNITY — real, live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3175000"/>
            <a:ext cx="4993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31D16"/>
                </a:solidFill>
                <a:latin typeface="Georgia"/>
              </a:rPr>
              <a:t>Pengembangan tata kelola lahan dan hutan rendah emisi dan berketahanan…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39878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A05A2C"/>
                </a:solidFill>
                <a:latin typeface="Consolas"/>
              </a:rPr>
              <a:t>100.0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47752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7658"/>
                </a:solidFill>
                <a:latin typeface="Calibri"/>
              </a:rPr>
              <a:t>NEED SCORE /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620" y="39878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F6D4F"/>
                </a:solidFill>
                <a:latin typeface="Consolas"/>
              </a:rPr>
              <a:t>41.2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620" y="47752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A7658"/>
                </a:solidFill>
                <a:latin typeface="Calibri"/>
              </a:rPr>
              <a:t>CREDIBILITY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5219700"/>
            <a:ext cx="4993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8A7658"/>
                </a:solidFill>
                <a:latin typeface="Calibri"/>
              </a:rPr>
              <a:t>Real label: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HOW COMPLIANCE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Permenhut No. 6/2026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F6D4F"/>
                </a:solidFill>
                <a:latin typeface="Calibri"/>
              </a:rPr>
              <a:t>●  </a:t>
            </a:r>
            <a:r>
              <a:rPr sz="1350">
                <a:solidFill>
                  <a:srgbClr val="4F4230"/>
                </a:solidFill>
                <a:latin typeface="Calibri"/>
              </a:rPr>
              <a:t>The real regulation encodes 25 rules — this pipeline has 4 wired into live scoring (4/25), the other 21 each flagged with a specific reason, never silently skipped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F6D4F"/>
                </a:solidFill>
                <a:latin typeface="Calibri"/>
              </a:rPr>
              <a:t>●  </a:t>
            </a:r>
            <a:r>
              <a:rPr sz="1350">
                <a:solidFill>
                  <a:srgbClr val="4F4230"/>
                </a:solidFill>
                <a:latin typeface="Calibri"/>
              </a:rPr>
              <a:t>R016 (Pasal 61), R006 (Pasal 10), R003 (Pasal 6(1)), R022 (Pasal 20) are wired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11155680" cy="3017520"/>
          </a:xfrm>
          <a:prstGeom prst="roundRect">
            <a:avLst/>
          </a:prstGeom>
          <a:solidFill>
            <a:srgbClr val="F3E8D4"/>
          </a:solidFill>
          <a:ln w="15875">
            <a:solidFill>
              <a:srgbClr val="A3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3711F"/>
                </a:solidFill>
                <a:latin typeface="Calibri"/>
              </a:rPr>
              <a:t>REAL LIVE EXAMPLE — PASAL 61 DEADLINE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31D16"/>
                </a:solidFill>
                <a:latin typeface="Georgia"/>
              </a:rPr>
              <a:t>Pengembangan tata kelola lahan dan hutan rendah emisi dan berketahanan iklim di wilayah Kabupaten Nabire, Provinsi Papua Tengah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F4230"/>
                </a:solidFill>
                <a:latin typeface="Calibri"/>
              </a:rPr>
              <a:t>Registered 2025-11-06, before the 2026-04-13 effective date — the Pasal 61 reporting deadline (2026-10-13) is 46 days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A05A2C"/>
                </a:solidFill>
                <a:latin typeface="Consolas"/>
              </a:rPr>
              <a:t>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A7658"/>
                </a:solidFill>
                <a:latin typeface="Calibri"/>
              </a:rPr>
              <a:t>days until 2026-10-13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029200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F4230"/>
                </a:solidFill>
                <a:latin typeface="Calibri"/>
              </a:rPr>
              <a:t>Computed live, right now — as of 2026-08-28. This candidate is compliance_badge = AMBER,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F4230"/>
                </a:solidFill>
                <a:latin typeface="Calibri"/>
              </a:rPr>
              <a:t>one of 53 candidates (of 144 total) facing this same transitional deadline.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DOSSIER &amp;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Deterministic templates, no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623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Every dossier sentence traces to a specific real field or rule — nothing generated freeform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Every claim tagged evidence_level: fact or hypothesis, per Gluri's own direct requirement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Real citations to real source documents (registry record, decree PDF, news article)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Bilingual (EN/ID) outreach emails, hedging language verified sentence-by-sentence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Honest missing-contact warnings — never a fabricated email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92040"/>
            <a:ext cx="5623560" cy="1280160"/>
          </a:xfrm>
          <a:prstGeom prst="roundRect">
            <a:avLst/>
          </a:prstGeom>
          <a:solidFill>
            <a:srgbClr val="173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1091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2D9C9"/>
                </a:solidFill>
                <a:latin typeface="Calibri"/>
              </a:rPr>
              <a:t>WHY NO LLM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Auditability · zero hallucination risk · cheap to re-run at any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5257800" cy="4572000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A05A2C"/>
                </a:solidFill>
                <a:latin typeface="Calibri"/>
              </a:rPr>
              <a:t>REAL EXAMPLE — KATINGAN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0312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231D16"/>
                </a:solidFill>
                <a:latin typeface="Calibri"/>
              </a:rPr>
              <a:t>“Registration is actively progressing — organization is currently engaged with the process.”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8036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6D4F"/>
                </a:solidFill>
                <a:latin typeface="Calibri"/>
              </a:rPr>
              <a:t>evidence_level: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20040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A7658"/>
                </a:solidFill>
                <a:latin typeface="Calibri"/>
              </a:rPr>
              <a:t>Derived from the registration workflow's step statuses on file — a computed momentum signal, not a single document.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16052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A05A2C"/>
                </a:solidFill>
                <a:latin typeface="Calibri"/>
              </a:rPr>
              <a:t>REAL CONTACT ON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6227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31D16"/>
                </a:solidFill>
                <a:latin typeface="Calibri"/>
              </a:rPr>
              <a:t>Asep Ayat — PT Rimba Makmur Utama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89204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F4230"/>
                </a:solidFill>
                <a:latin typeface="Calibri"/>
              </a:rPr>
              <a:t>recipient_status: name_only_no_email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F4230"/>
                </a:solidFill>
                <a:latin typeface="Calibri"/>
              </a:rPr>
              <a:t>→ honest warning shown, not a fabricated email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WEB DISCOVERY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Tavily — tested and hardened, not assumed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Tavily is a discovery + corroboration input, not a primary registry — every hit still goes through the same normalize → identity-resolve → score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5640" y="243332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REAL QUERIES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640" y="268732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C4140"/>
                </a:solidFill>
                <a:latin typeface="Consolas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317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0280" y="243332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REAL HITS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0280" y="268732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C4140"/>
                </a:solidFill>
                <a:latin typeface="Consolas"/>
              </a:rPr>
              <a:t>685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4920" y="243332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CORROBORATED EXISTING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4920" y="268732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F6D4F"/>
                </a:solidFill>
                <a:latin typeface="Consolas"/>
              </a:rPr>
              <a:t>114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3317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9560" y="243332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NEW THIN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9560" y="268732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A05A2C"/>
                </a:solidFill>
                <a:latin typeface="Consolas"/>
              </a:rPr>
              <a:t>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11109960" cy="2148840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05A2C"/>
                </a:solidFill>
                <a:latin typeface="Calibri"/>
              </a:rPr>
              <a:t>A REAL BUG FOUND AND FIXED DURING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31D16"/>
                </a:solidFill>
                <a:latin typeface="Calibri"/>
              </a:rPr>
              <a:t>Fuzzy org-name matching risked merging two genuinely different, unrelated real Indonesian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31D16"/>
                </a:solidFill>
                <a:latin typeface="Calibri"/>
              </a:rPr>
              <a:t>foundations sharing a common naming template: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31D16"/>
                </a:solidFill>
                <a:latin typeface="Calibri"/>
              </a:rPr>
              <a:t>“Yayasan Meramu Alam Nusantara” vs. “Yayasan Konservasi Alam Nusantara” — scored 83.87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F4230"/>
                </a:solidFill>
                <a:latin typeface="Calibri"/>
              </a:rPr>
              <a:t>Fixed by requiring real CONTENT corroboration (district/province name or a distinctive project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F4230"/>
                </a:solidFill>
                <a:latin typeface="Calibri"/>
              </a:rPr>
              <a:t>keyword actually present in the article) before accepting any match in the 80–100 score band.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REAL NUMBERS,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Live snapshot — not estimates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9920" y="17932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TOTAL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" y="20472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F6D4F"/>
                </a:solidFill>
                <a:latin typeface="Consolas"/>
              </a:rPr>
              <a:t>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20" y="28041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live from the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916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0280" y="17932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RICH / THIN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0280" y="20472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C4140"/>
                </a:solidFill>
                <a:latin typeface="Consolas"/>
              </a:rPr>
              <a:t>128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0280" y="28041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data richness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0640" y="17932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RESOLVED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640" y="20472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A05A2C"/>
                </a:solidFill>
                <a:latin typeface="Consolas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0640" y="28041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83 named (Tier A) · 2 org-only (Tier 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916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1000" y="17932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INSUFFICIENT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000" y="20472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A7658"/>
                </a:solidFill>
                <a:latin typeface="Consolas"/>
              </a:rPr>
              <a:t>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1000" y="28041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honest gap, not fabricated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918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920" y="33934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COMPLIANCE: AMBER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" y="36474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A3711F"/>
                </a:solidFill>
                <a:latin typeface="Consolas"/>
              </a:rPr>
              <a:t>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920" y="44043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Pasal 61 deadline approaching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2918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10280" y="33934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COMPLIANCE: 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0280" y="36474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8A7658"/>
                </a:solidFill>
                <a:latin typeface="Consolas"/>
              </a:rPr>
              <a:t>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0280" y="44043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no applicable rule triggered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918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90640" y="33934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BRWA GEOMETRY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0640" y="36474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C4140"/>
                </a:solidFill>
                <a:latin typeface="Consolas"/>
              </a:rPr>
              <a:t>1756 / 2283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0640" y="44043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77% — confirmed real ceiling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2918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71000" y="3393440"/>
            <a:ext cx="244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CONFIRMED LAND-RIGHTS OVERLAP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1000" y="3647440"/>
            <a:ext cx="244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F6D4F"/>
                </a:solidFill>
                <a:latin typeface="Consolas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1000" y="4404360"/>
            <a:ext cx="244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of 144 real candidates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F4230"/>
                </a:solidFill>
                <a:latin typeface="Calibri"/>
              </a:rPr>
              <a:t>By source (candidates can carry more than one): SRUK: 87 · Verra: 47 · News/Tavily: 16 · Tavily (contact lookup): 2 · SRN-PPI: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7658"/>
                </a:solidFill>
                <a:latin typeface="Calibri"/>
              </a:rPr>
              <a:t>Pulled live from GET /candidates and GET /stats at build time — 2026-08-28 05:15 UTC.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231D16"/>
                </a:solidFill>
                <a:latin typeface="Georgia"/>
              </a:rPr>
              <a:t>The live frontend,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4230"/>
                </a:solidFill>
                <a:latin typeface="Calibri"/>
              </a:rP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2504" y="1684528"/>
            <a:ext cx="3415792" cy="2153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c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709928"/>
            <a:ext cx="3364992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1417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4230"/>
                </a:solidFill>
                <a:latin typeface="Calibri"/>
              </a:rPr>
              <a:t>Candidate Detail — Katingan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53224" y="1684528"/>
            <a:ext cx="3415792" cy="2153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eck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709928"/>
            <a:ext cx="3364992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39319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4230"/>
                </a:solidFill>
                <a:latin typeface="Calibri"/>
              </a:rPr>
              <a:t>Territory Discovery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2504" y="4199128"/>
            <a:ext cx="3415792" cy="2153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eck_territ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4224528"/>
            <a:ext cx="3364992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39319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4230"/>
                </a:solidFill>
                <a:latin typeface="Calibri"/>
              </a:rPr>
              <a:t>Partnerships (tracking)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53224" y="4199128"/>
            <a:ext cx="3415792" cy="2153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eck_partnershi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4224528"/>
            <a:ext cx="3364992" cy="2103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65836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C9BBA1"/>
                </a:solidFill>
                <a:latin typeface="Calibri"/>
              </a:rPr>
              <a:t>Real screenshots taken from the running app at build time — not mockups.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What it's actually built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492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76200"/>
          </a:xfrm>
          <a:prstGeom prst="rect">
            <a:avLst/>
          </a:prstGeom>
          <a:solidFill>
            <a:srgbClr val="1C4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8280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4140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5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46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27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8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56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A7658"/>
                </a:solidFill>
                <a:latin typeface="Calibri"/>
              </a:rPr>
              <a:t>Dashboard · Candidates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450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A7658"/>
                </a:solidFill>
                <a:latin typeface="Calibri"/>
              </a:rPr>
              <a:t>Territory Discovery · Partnerships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3492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349240" cy="762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08280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6D4F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5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46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27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84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31D16"/>
                </a:solidFill>
                <a:latin typeface="Calibri"/>
              </a:rPr>
              <a:t>Background 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656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A7658"/>
                </a:solidFill>
                <a:latin typeface="Calibri"/>
              </a:rPr>
              <a:t>Per-source refresh cadence: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450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A7658"/>
                </a:solidFill>
                <a:latin typeface="Calibri"/>
              </a:rPr>
              <a:t>SRUK/Verra daily · SRN-PPI monthly · BRWA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API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Real usage, honestly labeled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5640" y="1838960"/>
            <a:ext cx="331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REAL TAVILY QUERIES LOGGED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640" y="2092960"/>
            <a:ext cx="3312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C4140"/>
                </a:solidFill>
                <a:latin typeface="Consolas"/>
              </a:rPr>
              <a:t>146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640" y="2804160"/>
            <a:ext cx="331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GET /stats, this session's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8960" y="1838960"/>
            <a:ext cx="331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SEARCH DEPTH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8960" y="2092960"/>
            <a:ext cx="3312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C4140"/>
                </a:solidFill>
                <a:latin typeface="Consolas"/>
              </a:rPr>
              <a:t>basic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8960" y="2804160"/>
            <a:ext cx="331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1 credit / call, per Tavily's published pricing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2279" y="1838960"/>
            <a:ext cx="331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A7658"/>
                </a:solidFill>
                <a:latin typeface="Calibri"/>
              </a:rPr>
              <a:t>≈ CREDITS CONSUMED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2279" y="2092960"/>
            <a:ext cx="3312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A05A2C"/>
                </a:solidFill>
                <a:latin typeface="Consolas"/>
              </a:rPr>
              <a:t>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2279" y="2804160"/>
            <a:ext cx="331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A7658"/>
                </a:solidFill>
                <a:latin typeface="Calibri"/>
              </a:rPr>
              <a:t>146 queries × 1 credit/call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10972800" cy="2743200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C9BB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05A2C"/>
                </a:solidFill>
                <a:latin typeface="Calibri"/>
              </a:rPr>
              <a:t>WHAT WE CAN'T CONFIRM — STATED HONESTLY, NOT GUESSED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This codebase has no billing/API-key access — we cannot see which Tavily plan/tier is actually active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Tavily's public free tier is commonly 1,000 credits/month; at basic-search rates, 146 total real queries would fit comfortably within one free month if that's the plan in use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2F6D4F"/>
                </a:solidFill>
                <a:latin typeface="Calibri"/>
              </a:rPr>
              <a:t>●  </a:t>
            </a:r>
            <a:r>
              <a:rPr sz="1300">
                <a:solidFill>
                  <a:srgbClr val="4F4230"/>
                </a:solidFill>
                <a:latin typeface="Calibri"/>
              </a:rPr>
              <a:t>We are NOT stating a confirmed dollar figure — that requires access to the actual Tavily billing dashboard, which this session doesn't have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Real open items, deliberately scoped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F6D4F"/>
                </a:solidFill>
                <a:latin typeface="Calibri"/>
              </a:rPr>
              <a:t>Korean localization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8046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F4230"/>
                </a:solidFill>
                <a:latin typeface="Calibri"/>
              </a:rPr>
              <a:t>Scoped, not built: ~2-3 dev-days for swappable UI chrome (labels/nav/headers). Executive-summary sentences need real ICU-style templates, not simple key-swaps. Real candidate/evidence data stays untranslated — no lossy paraphrase of real source text. Deferred pending confirmation the need is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62072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F6D4F"/>
                </a:solidFill>
                <a:latin typeface="Calibri"/>
              </a:rPr>
              <a:t>Tier C contact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62072"/>
            <a:ext cx="8046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F4230"/>
                </a:solidFill>
                <a:latin typeface="Calibri"/>
              </a:rPr>
              <a:t>Deferred, not an oversight: extracting a named contact from free-form news prose has no structural anchor to verify against (no copyright footer, no contact page) — Tier B already needed 4 hardening rounds to trust for just 1 of 128 real candidates.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32504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F6D4F"/>
                </a:solidFill>
                <a:latin typeface="Calibri"/>
              </a:rPr>
              <a:t>LLM-based prose polish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32504"/>
            <a:ext cx="8046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F4230"/>
                </a:solidFill>
                <a:latin typeface="Calibri"/>
              </a:rPr>
              <a:t>Deliberately not pursued: today's deterministic templates guarantee zero hallucination and full auditability. Any future LLM layer would need the same hedging rigor already proven for the bilingual templates before it's trustworthy.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02936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F6D4F"/>
                </a:solidFill>
                <a:latin typeface="Calibri"/>
              </a:rPr>
              <a:t>India / Nepal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202936"/>
            <a:ext cx="8046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F4230"/>
                </a:solidFill>
                <a:latin typeface="Calibri"/>
              </a:rPr>
              <a:t>Gluri said these are admissible if genuinely stronger than an Indonesia candidate — not built yet. The pipeline is Indonesia-only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05A2C"/>
                </a:solidFill>
                <a:latin typeface="Calibri"/>
              </a:rPr>
              <a:t>OPTIONAL — DAY TO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31D16"/>
                </a:solidFill>
                <a:latin typeface="Georgia"/>
              </a:rPr>
              <a:t>How a non-technical user actually uses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2F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7899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50">
                <a:solidFill>
                  <a:srgbClr val="2F6D4F"/>
                </a:solidFill>
                <a:latin typeface="Calibri"/>
              </a:rPr>
              <a:t>●  </a:t>
            </a:r>
            <a:r>
              <a:rPr sz="1550">
                <a:solidFill>
                  <a:srgbClr val="4F4230"/>
                </a:solidFill>
                <a:latin typeface="Calibri"/>
              </a:rPr>
              <a:t>Open the Dashboard — one real snapshot: total candidates, the need/credibility matrix, the live map, outreach status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50">
                <a:solidFill>
                  <a:srgbClr val="2F6D4F"/>
                </a:solidFill>
                <a:latin typeface="Calibri"/>
              </a:rPr>
              <a:t>●  </a:t>
            </a:r>
            <a:r>
              <a:rPr sz="1550">
                <a:solidFill>
                  <a:srgbClr val="4F4230"/>
                </a:solidFill>
                <a:latin typeface="Calibri"/>
              </a:rPr>
              <a:t>Go to Candidates — sort/filter by need OR credibility (never blended), by province, richness, or land-rights status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50">
                <a:solidFill>
                  <a:srgbClr val="2F6D4F"/>
                </a:solidFill>
                <a:latin typeface="Calibri"/>
              </a:rPr>
              <a:t>●  </a:t>
            </a:r>
            <a:r>
              <a:rPr sz="1550">
                <a:solidFill>
                  <a:srgbClr val="4F4230"/>
                </a:solidFill>
                <a:latin typeface="Calibri"/>
              </a:rPr>
              <a:t>Click into a candidate — real fact/hypothesis-tagged evidence, land rights, compliance deadline, a suggested next step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50">
                <a:solidFill>
                  <a:srgbClr val="2F6D4F"/>
                </a:solidFill>
                <a:latin typeface="Calibri"/>
              </a:rPr>
              <a:t>●  </a:t>
            </a:r>
            <a:r>
              <a:rPr sz="1550">
                <a:solidFill>
                  <a:srgbClr val="4F4230"/>
                </a:solidFill>
                <a:latin typeface="Calibri"/>
              </a:rPr>
              <a:t>Generate the dossier and bilingual (EN/ID) outreach email in one click — real citations, honest contact warnings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50">
                <a:solidFill>
                  <a:srgbClr val="2F6D4F"/>
                </a:solidFill>
                <a:latin typeface="Calibri"/>
              </a:rPr>
              <a:t>●  </a:t>
            </a:r>
            <a:r>
              <a:rPr sz="1550">
                <a:solidFill>
                  <a:srgbClr val="4F4230"/>
                </a:solidFill>
                <a:latin typeface="Calibri"/>
              </a:rPr>
              <a:t>Go to Partnerships — set a real status (contacted / follow-up / done / rejected), add a note, see the full real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9BBA1"/>
                </a:solidFill>
                <a:latin typeface="Calibri"/>
              </a:rPr>
              <a:t>GluriBridge — I'm in Busan Impact Hackathon 2026 · Demo Day 5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1938</Words>
  <Application>Microsoft Office PowerPoint</Application>
  <PresentationFormat>Widescreen</PresentationFormat>
  <Paragraphs>239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Nischal Lal Shrestha</cp:lastModifiedBy>
  <cp:revision>1</cp:revision>
  <dcterms:created xsi:type="dcterms:W3CDTF">2013-01-27T09:14:16Z</dcterms:created>
  <dcterms:modified xsi:type="dcterms:W3CDTF">2026-08-28T05:17:50Z</dcterms:modified>
  <cp:category/>
</cp:coreProperties>
</file>